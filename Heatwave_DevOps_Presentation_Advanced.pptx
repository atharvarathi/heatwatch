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>
                <a:solidFill>
                  <a:srgbClr val="F59E0B"/>
                </a:solidFill>
              </a:rPr>
              <a:t>Containerized Microservices for Heatwave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200" b="0">
                <a:solidFill>
                  <a:srgbClr val="F8FAFC"/>
                </a:solidFill>
              </a:rPr>
              <a:t>A DevOps Approach to Climate Resilience</a:t>
            </a:r>
          </a:p>
          <a:p>
            <a:r>
              <a:rPr sz="2200" b="0">
                <a:solidFill>
                  <a:srgbClr val="F8FAFC"/>
                </a:solidFill>
              </a:rPr>
              <a:t>Team: [Add 6 Member Names]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F59E0B"/>
                </a:solidFill>
              </a:rPr>
              <a:t>The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b="0">
                <a:solidFill>
                  <a:srgbClr val="F8FAFC"/>
                </a:solidFill>
              </a:rPr>
              <a:t>Heatwaves in India are severe, but current weather apps lack targeted, actionable advice.</a:t>
            </a:r>
          </a:p>
          <a:p>
            <a:pPr/>
            <a:r>
              <a:rPr sz="1800" b="0">
                <a:solidFill>
                  <a:srgbClr val="F8FAFC"/>
                </a:solidFill>
              </a:rPr>
              <a:t>Traditional monolithic weather systems crash due to high traffic spikes during extreme climate events.</a:t>
            </a:r>
          </a:p>
          <a:p>
            <a:pPr/>
            <a:r>
              <a:rPr sz="1800" b="0">
                <a:solidFill>
                  <a:srgbClr val="F8FAFC"/>
                </a:solidFill>
              </a:rPr>
              <a:t>Vulnerable populations (farmers, workers) need specific action plans, not just temperature readings.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F59E0B"/>
                </a:solidFill>
              </a:rPr>
              <a:t>3-Tier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b="0">
                <a:solidFill>
                  <a:srgbClr val="F8FAFC"/>
                </a:solidFill>
              </a:rPr>
              <a:t>Separated the application into three distinct tiers for security, scalability, and maintainability.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2743200"/>
            <a:ext cx="4572000" cy="914400"/>
          </a:xfrm>
          <a:prstGeom prst="roundRect">
            <a:avLst/>
          </a:prstGeom>
          <a:solidFill>
            <a:srgbClr val="2563E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8FAFC"/>
                </a:solidFill>
              </a:rPr>
              <a:t>Presentation Tier</a:t>
            </a:r>
          </a:p>
          <a:p>
            <a:pPr algn="ctr"/>
            <a:r>
              <a:rPr b="1" sz="1400">
                <a:solidFill>
                  <a:srgbClr val="F8FAFC"/>
                </a:solidFill>
              </a:rPr>
              <a:t>(React + Vite + Tailwind)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4114800"/>
            <a:ext cx="4572000" cy="91440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8FAFC"/>
                </a:solidFill>
              </a:rPr>
              <a:t>Application Tier</a:t>
            </a:r>
          </a:p>
          <a:p>
            <a:pPr algn="ctr"/>
            <a:r>
              <a:rPr b="1" sz="1400">
                <a:solidFill>
                  <a:srgbClr val="F8FAFC"/>
                </a:solidFill>
              </a:rPr>
              <a:t>(Node.js + Express + Nginx)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5486400"/>
            <a:ext cx="4572000" cy="914400"/>
          </a:xfrm>
          <a:prstGeom prst="roundRect">
            <a:avLst/>
          </a:prstGeom>
          <a:solidFill>
            <a:srgbClr val="D97706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8FAFC"/>
                </a:solidFill>
              </a:rPr>
              <a:t>Data Tier</a:t>
            </a:r>
          </a:p>
          <a:p>
            <a:pPr algn="ctr"/>
            <a:r>
              <a:rPr b="1" sz="1400">
                <a:solidFill>
                  <a:srgbClr val="F8FAFC"/>
                </a:solidFill>
              </a:rPr>
              <a:t>(Containerized MongoDB)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.0" y="3657600"/>
            <a:ext cx="0.0" cy="457200"/>
          </a:xfrm>
          <a:prstGeom prst="line">
            <a:avLst/>
          </a:prstGeom>
          <a:ln w="25400">
            <a:solidFill>
              <a:srgbClr val="F8FA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72000.0" y="5029200"/>
            <a:ext cx="0.0" cy="457200"/>
          </a:xfrm>
          <a:prstGeom prst="line">
            <a:avLst/>
          </a:prstGeom>
          <a:ln w="25400">
            <a:solidFill>
              <a:srgbClr val="F8FA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F59E0B"/>
                </a:solidFill>
              </a:rPr>
              <a:t>Initial Approach: Monolithic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b="0">
                <a:solidFill>
                  <a:srgbClr val="F8FAFC"/>
                </a:solidFill>
              </a:rPr>
              <a:t>Single point of failure. If traffic spikes, the critical alert system goes down.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2286000"/>
            <a:ext cx="2743200" cy="731520"/>
          </a:xfrm>
          <a:prstGeom prst="roundRect">
            <a:avLst/>
          </a:prstGeom>
          <a:solidFill>
            <a:srgbClr val="475569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8FAFC"/>
                </a:solidFill>
              </a:rPr>
              <a:t>Client / User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3474720"/>
            <a:ext cx="2743200" cy="7315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8FAFC"/>
                </a:solidFill>
              </a:rPr>
              <a:t>Nginx Gateway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4663440"/>
            <a:ext cx="5486400" cy="109728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8FAFC"/>
                </a:solidFill>
              </a:rPr>
              <a:t>Monolithic Server</a:t>
            </a:r>
          </a:p>
          <a:p>
            <a:pPr algn="ctr"/>
            <a:r>
              <a:rPr b="1" sz="1400">
                <a:solidFill>
                  <a:srgbClr val="F8FAFC"/>
                </a:solidFill>
              </a:rPr>
              <a:t>(Weather, Alerts, Advisory, Analytics)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6217920"/>
            <a:ext cx="2743200" cy="731520"/>
          </a:xfrm>
          <a:prstGeom prst="roundRect">
            <a:avLst/>
          </a:prstGeom>
          <a:solidFill>
            <a:srgbClr val="D97706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8FAFC"/>
                </a:solidFill>
              </a:rPr>
              <a:t>Single MongoDB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0.0" y="3017520"/>
            <a:ext cx="0.0" cy="457200"/>
          </a:xfrm>
          <a:prstGeom prst="line">
            <a:avLst/>
          </a:prstGeom>
          <a:ln w="25400">
            <a:solidFill>
              <a:srgbClr val="F8FA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572000.0" y="4206240"/>
            <a:ext cx="0.0" cy="457200"/>
          </a:xfrm>
          <a:prstGeom prst="line">
            <a:avLst/>
          </a:prstGeom>
          <a:ln w="25400">
            <a:solidFill>
              <a:srgbClr val="F8FA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72000.0" y="5760720"/>
            <a:ext cx="0.0" cy="457200"/>
          </a:xfrm>
          <a:prstGeom prst="line">
            <a:avLst/>
          </a:prstGeom>
          <a:ln w="25400">
            <a:solidFill>
              <a:srgbClr val="F8FA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F59E0B"/>
                </a:solidFill>
              </a:rPr>
              <a:t>The Evolution: Microservices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b="0">
                <a:solidFill>
                  <a:srgbClr val="F8FAFC"/>
                </a:solidFill>
              </a:rPr>
              <a:t>Fault isolation: if one service crashes, the others remain 100% operational.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2011680"/>
            <a:ext cx="2743200" cy="548640"/>
          </a:xfrm>
          <a:prstGeom prst="roundRect">
            <a:avLst/>
          </a:prstGeom>
          <a:solidFill>
            <a:srgbClr val="475569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8FAFC"/>
                </a:solidFill>
              </a:rPr>
              <a:t>Client / User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3017520"/>
            <a:ext cx="2743200" cy="5486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8FAFC"/>
                </a:solidFill>
              </a:rPr>
              <a:t>Nginx API Gateway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389120"/>
            <a:ext cx="1828800" cy="731520"/>
          </a:xfrm>
          <a:prstGeom prst="roundRect">
            <a:avLst/>
          </a:prstGeom>
          <a:solidFill>
            <a:srgbClr val="059669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8FAFC"/>
                </a:solidFill>
              </a:rPr>
              <a:t>Weather Svc</a:t>
            </a:r>
          </a:p>
          <a:p>
            <a:pPr algn="ctr"/>
            <a:r>
              <a:rPr b="1" sz="1400">
                <a:solidFill>
                  <a:srgbClr val="F8FAFC"/>
                </a:solidFill>
              </a:rPr>
              <a:t>:5001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4389120"/>
            <a:ext cx="1828800" cy="731520"/>
          </a:xfrm>
          <a:prstGeom prst="roundRect">
            <a:avLst/>
          </a:prstGeom>
          <a:solidFill>
            <a:srgbClr val="D97706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8FAFC"/>
                </a:solidFill>
              </a:rPr>
              <a:t>Alert Svc</a:t>
            </a:r>
          </a:p>
          <a:p>
            <a:pPr algn="ctr"/>
            <a:r>
              <a:rPr b="1" sz="1400">
                <a:solidFill>
                  <a:srgbClr val="F8FAFC"/>
                </a:solidFill>
              </a:rPr>
              <a:t>:5002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4389120"/>
            <a:ext cx="1828800" cy="731520"/>
          </a:xfrm>
          <a:prstGeom prst="roundRect">
            <a:avLst/>
          </a:prstGeom>
          <a:solidFill>
            <a:srgbClr val="7C3AED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8FAFC"/>
                </a:solidFill>
              </a:rPr>
              <a:t>Advisory Svc</a:t>
            </a:r>
          </a:p>
          <a:p>
            <a:pPr algn="ctr"/>
            <a:r>
              <a:rPr b="1" sz="1400">
                <a:solidFill>
                  <a:srgbClr val="F8FAFC"/>
                </a:solidFill>
              </a:rPr>
              <a:t>:5003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4389120"/>
            <a:ext cx="1828800" cy="731520"/>
          </a:xfrm>
          <a:prstGeom prst="roundRect">
            <a:avLst/>
          </a:prstGeom>
          <a:solidFill>
            <a:srgbClr val="2563E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8FAFC"/>
                </a:solidFill>
              </a:rPr>
              <a:t>Analytics Svc</a:t>
            </a:r>
          </a:p>
          <a:p>
            <a:pPr algn="ctr"/>
            <a:r>
              <a:rPr b="1" sz="1400">
                <a:solidFill>
                  <a:srgbClr val="F8FAFC"/>
                </a:solidFill>
              </a:rPr>
              <a:t>:5004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5852160"/>
            <a:ext cx="2743200" cy="731520"/>
          </a:xfrm>
          <a:prstGeom prst="roundRect">
            <a:avLst/>
          </a:prstGeom>
          <a:solidFill>
            <a:srgbClr val="DB2777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8FAFC"/>
                </a:solidFill>
              </a:rPr>
              <a:t>MongoDB Containers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0.0" y="2560320"/>
            <a:ext cx="0.0" cy="457200"/>
          </a:xfrm>
          <a:prstGeom prst="line">
            <a:avLst/>
          </a:prstGeom>
          <a:ln>
            <a:solidFill>
              <a:srgbClr val="F8FA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371600.0" y="3566160"/>
            <a:ext cx="3200400.0" cy="822960"/>
          </a:xfrm>
          <a:prstGeom prst="line">
            <a:avLst/>
          </a:prstGeom>
          <a:ln>
            <a:solidFill>
              <a:srgbClr val="F8FA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3474720.0" y="3566160"/>
            <a:ext cx="1097280.0" cy="822960"/>
          </a:xfrm>
          <a:prstGeom prst="line">
            <a:avLst/>
          </a:prstGeom>
          <a:ln>
            <a:solidFill>
              <a:srgbClr val="F8FA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72000.0" y="3566160"/>
            <a:ext cx="1005840.0" cy="822960"/>
          </a:xfrm>
          <a:prstGeom prst="line">
            <a:avLst/>
          </a:prstGeom>
          <a:ln>
            <a:solidFill>
              <a:srgbClr val="F8FA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72000.0" y="3566160"/>
            <a:ext cx="3108960.0" cy="822960"/>
          </a:xfrm>
          <a:prstGeom prst="line">
            <a:avLst/>
          </a:prstGeom>
          <a:ln>
            <a:solidFill>
              <a:srgbClr val="F8FA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371600.0" y="5120640"/>
            <a:ext cx="3200400.0" cy="731520"/>
          </a:xfrm>
          <a:prstGeom prst="line">
            <a:avLst/>
          </a:prstGeom>
          <a:ln>
            <a:solidFill>
              <a:srgbClr val="F8FA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474720.0" y="5120640"/>
            <a:ext cx="1097280.0" cy="731520"/>
          </a:xfrm>
          <a:prstGeom prst="line">
            <a:avLst/>
          </a:prstGeom>
          <a:ln>
            <a:solidFill>
              <a:srgbClr val="F8FA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4572000.0" y="5120640"/>
            <a:ext cx="1005840.0" cy="731520"/>
          </a:xfrm>
          <a:prstGeom prst="line">
            <a:avLst/>
          </a:prstGeom>
          <a:ln>
            <a:solidFill>
              <a:srgbClr val="F8FA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4572000.0" y="5120640"/>
            <a:ext cx="3108960.0" cy="731520"/>
          </a:xfrm>
          <a:prstGeom prst="line">
            <a:avLst/>
          </a:prstGeom>
          <a:ln>
            <a:solidFill>
              <a:srgbClr val="F8FA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F59E0B"/>
                </a:solidFill>
              </a:rPr>
              <a:t>Monolithic vs Microservices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b="0">
                <a:solidFill>
                  <a:srgbClr val="F8FAFC"/>
                </a:solidFill>
              </a:rPr>
              <a:t>Codebase: Unified (Monolithic) vs Independent (Microservices)</a:t>
            </a:r>
          </a:p>
          <a:p>
            <a:pPr/>
            <a:r>
              <a:rPr sz="1800" b="0">
                <a:solidFill>
                  <a:srgbClr val="F8FAFC"/>
                </a:solidFill>
              </a:rPr>
              <a:t>Fault Tolerance: Low / Single Point of Failure (Mono) vs High / Isolated (Micro)</a:t>
            </a:r>
          </a:p>
          <a:p>
            <a:pPr/>
            <a:r>
              <a:rPr sz="1800" b="0">
                <a:solidFill>
                  <a:srgbClr val="F8FAFC"/>
                </a:solidFill>
              </a:rPr>
              <a:t>Scalability: Scale entire app (Mono) vs Scale specific high-traffic parts (Micro)</a:t>
            </a:r>
          </a:p>
          <a:p>
            <a:pPr/>
            <a:r>
              <a:rPr sz="1800" b="0">
                <a:solidFill>
                  <a:srgbClr val="F8FAFC"/>
                </a:solidFill>
              </a:rPr>
              <a:t>Docker Containers: 4 containers (Mono) vs 7 containers (Micro)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F59E0B"/>
                </a:solidFill>
              </a:rPr>
              <a:t>DevOps &amp; Containerization (Docker)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b="0">
                <a:solidFill>
                  <a:srgbClr val="F8FAFC"/>
                </a:solidFill>
              </a:rPr>
              <a:t>Every service, frontend, and database is isolated in its own Docker container.</a:t>
            </a:r>
          </a:p>
          <a:p>
            <a:pPr/>
            <a:r>
              <a:rPr sz="1800" b="0">
                <a:solidFill>
                  <a:srgbClr val="F8FAFC"/>
                </a:solidFill>
              </a:rPr>
              <a:t>Eliminated 'it works on my machine' issues.</a:t>
            </a:r>
          </a:p>
          <a:p>
            <a:pPr/>
            <a:r>
              <a:rPr sz="1800" b="0">
                <a:solidFill>
                  <a:srgbClr val="F8FAFC"/>
                </a:solidFill>
              </a:rPr>
              <a:t>Docker Compose orchestrates 7 interconnected containers with a single command.</a:t>
            </a:r>
          </a:p>
          <a:p>
            <a:pPr/>
            <a:r>
              <a:rPr sz="1800" b="0">
                <a:solidFill>
                  <a:srgbClr val="F8FAFC"/>
                </a:solidFill>
              </a:rPr>
              <a:t>Ensures exact parity between development and production environments.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F59E0B"/>
                </a:solidFill>
              </a:rPr>
              <a:t>Continuous Integration &amp; Deployment (CI/CD)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b="0">
                <a:solidFill>
                  <a:srgbClr val="F8FAFC"/>
                </a:solidFill>
              </a:rPr>
              <a:t>Automated pipeline built using GitHub Actions.</a:t>
            </a:r>
          </a:p>
          <a:p>
            <a:pPr/>
            <a:r>
              <a:rPr sz="1800" b="0">
                <a:solidFill>
                  <a:srgbClr val="F8FAFC"/>
                </a:solidFill>
              </a:rPr>
              <a:t>4 Stages:</a:t>
            </a:r>
          </a:p>
          <a:p>
            <a:pPr/>
            <a:r>
              <a:rPr sz="1800" b="0">
                <a:solidFill>
                  <a:srgbClr val="F8FAFC"/>
                </a:solidFill>
              </a:rPr>
              <a:t>  1. Lint &amp; Unit Tests</a:t>
            </a:r>
          </a:p>
          <a:p>
            <a:pPr/>
            <a:r>
              <a:rPr sz="1800" b="0">
                <a:solidFill>
                  <a:srgbClr val="F8FAFC"/>
                </a:solidFill>
              </a:rPr>
              <a:t>  2. Build Docker Images</a:t>
            </a:r>
          </a:p>
          <a:p>
            <a:pPr/>
            <a:r>
              <a:rPr sz="1800" b="0">
                <a:solidFill>
                  <a:srgbClr val="F8FAFC"/>
                </a:solidFill>
              </a:rPr>
              <a:t>  3. Validate Compose Configs</a:t>
            </a:r>
          </a:p>
          <a:p>
            <a:pPr/>
            <a:r>
              <a:rPr sz="1800" b="0">
                <a:solidFill>
                  <a:srgbClr val="F8FAFC"/>
                </a:solidFill>
              </a:rPr>
              <a:t>  4. Integration Health Checks</a:t>
            </a:r>
          </a:p>
          <a:p>
            <a:pPr/>
            <a:r>
              <a:rPr sz="1800" b="0">
                <a:solidFill>
                  <a:srgbClr val="F8FAFC"/>
                </a:solidFill>
              </a:rPr>
              <a:t>Ensures zero broken code reaches production.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F59E0B"/>
                </a:solidFill>
              </a:rPr>
              <a:t>Graceful Degradation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b="0">
                <a:solidFill>
                  <a:srgbClr val="F8FAFC"/>
                </a:solidFill>
              </a:rPr>
              <a:t>Graceful Degradation: If backend crashes, React frontend falls back to cached local data.</a:t>
            </a:r>
          </a:p>
          <a:p>
            <a:pPr/>
            <a:r>
              <a:rPr sz="1800" b="0">
                <a:solidFill>
                  <a:srgbClr val="F8FAFC"/>
                </a:solidFill>
              </a:rPr>
              <a:t>Zero UI disruption during catastrophic backend failures.</a:t>
            </a:r>
          </a:p>
          <a:p>
            <a:pPr/>
            <a:r>
              <a:rPr sz="1800" b="0">
                <a:solidFill>
                  <a:srgbClr val="F8FAFC"/>
                </a:solidFill>
              </a:rPr>
              <a:t>Conclusion: Successfully built a climate emergency tool backed by resilient, scalable DevOps architecture.</a:t>
            </a:r>
          </a:p>
          <a:p>
            <a:pPr/>
            <a:r>
              <a:rPr sz="1800" b="0">
                <a:solidFill>
                  <a:srgbClr val="F8FAFC"/>
                </a:solidFill>
              </a:rPr>
              <a:t>Thank You &amp;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